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0" r:id="rId3"/>
    <p:sldId id="508" r:id="rId4"/>
    <p:sldId id="299" r:id="rId5"/>
    <p:sldId id="292" r:id="rId6"/>
    <p:sldId id="420" r:id="rId7"/>
    <p:sldId id="288" r:id="rId8"/>
    <p:sldId id="455" r:id="rId10"/>
    <p:sldId id="456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40000"/>
    <a:srgbClr val="12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5" autoAdjust="0"/>
    <p:restoredTop sz="95431" autoAdjust="0"/>
  </p:normalViewPr>
  <p:slideViewPr>
    <p:cSldViewPr>
      <p:cViewPr>
        <p:scale>
          <a:sx n="68" d="100"/>
          <a:sy n="68" d="100"/>
        </p:scale>
        <p:origin x="-136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C0571D28-2707-4699-BC8A-83868C86C127}" type="datetimeFigureOut">
              <a:rPr lang="en-US" altLang="zh-CN"/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56B5797-18CA-47C4-9796-C510BB3208F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FB580063-79DE-4D9D-A045-3D011283C7F8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2253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B9AAD077-4149-4F75-904A-F5C1E0717F31}" type="slidenum">
              <a:rPr lang="en-US" altLang="zh-CN" sz="1200">
                <a:solidFill>
                  <a:srgbClr val="000000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zh-CN" sz="1200">
              <a:solidFill>
                <a:srgbClr val="000000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ED0F5-08D5-479B-BE2C-C6AFD53DB6DE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DA201-622B-4DD8-950B-B25E1F2D16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8B01A-2A68-4B98-9776-E8DE8DD3552C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095EA-FF3A-40E7-AECF-E7CC678E2A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D2BFF9-D00E-4992-931E-3D56EF947BBA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B4412-6DF0-4144-AE23-9F6227D038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2DB83-F599-4D80-A07E-85901D5A02CE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480C6-DF47-464E-98D8-01499366FD4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0215-4441-473D-931D-BA51DF1329A6}" type="datetimeFigureOut">
              <a:rPr lang="en-US" altLang="zh-CN"/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D5D60-2881-49AE-871B-8770538AB12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A2F09C-F3EA-4A54-B464-3DA2D0BC38C0}" type="datetimeFigureOut">
              <a:rPr lang="en-US" altLang="zh-CN"/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32D91-D565-4670-9697-3DC157FBF3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8F91B-9C3B-4AE3-8BF7-2E5652BBF502}" type="datetimeFigureOut">
              <a:rPr lang="en-US" altLang="zh-CN"/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A63C2-D261-4E3E-B6C2-D810D6EE8E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3A655-8268-4FBE-9F7B-A6AE67D729C6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11C80-16DD-4C73-87CA-8307EDE2DB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1C998-C9B8-4DF2-AD46-112F4BA4928D}" type="datetimeFigureOut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34DC9-F00A-47C8-8A17-1CF7E1766B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1AC08E-4263-4978-927E-FE4F8742ABE0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05D97-F4B8-4420-8604-2F2FE4C5D32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56733-247F-4486-9067-6C8A59AEDE44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33EB5-3690-47A8-AED9-7C64CF804E3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841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348CC70-BE49-4D7F-9338-362BA0DFE3ED}" type="datetimeFigureOut">
              <a:rPr lang="en-US" altLang="zh-CN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4D5BF8BA-8FE6-442A-8C6A-04653B349CD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lbertus Extra Bold" pitchFamily="34" charset="0"/>
          <a:ea typeface="MS PGothic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dobe Caslon Pro" pitchFamily="18" charset="0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dobe Caslon Pro" pitchFamily="18" charset="0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dobe Caslon Pro" pitchFamily="18" charset="0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dobe Caslon Pro" pitchFamily="18" charset="0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dobe Caslon Pro" pitchFamily="18" charset="0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 txBox="1"/>
          <p:nvPr/>
        </p:nvSpPr>
        <p:spPr bwMode="auto">
          <a:xfrm>
            <a:off x="228600" y="1905000"/>
            <a:ext cx="8686800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4800">
                <a:solidFill>
                  <a:srgbClr val="FFFFFF"/>
                </a:solidFill>
                <a:latin typeface="Albertus Extra Bold"/>
                <a:ea typeface="黑体" panose="02010609060101010101" pitchFamily="49" charset="-122"/>
              </a:rPr>
              <a:t>深度学习的基本理论与方法</a:t>
            </a:r>
            <a:endParaRPr lang="zh-CN" altLang="en-US" sz="4800">
              <a:solidFill>
                <a:srgbClr val="FFFFFF"/>
              </a:solidFill>
              <a:latin typeface="Albertus Extra Bold"/>
              <a:ea typeface="黑体" panose="02010609060101010101" pitchFamily="49" charset="-122"/>
            </a:endParaRPr>
          </a:p>
        </p:txBody>
      </p:sp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2438400" y="4267200"/>
            <a:ext cx="4419600" cy="1311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成科扬</a:t>
            </a:r>
            <a:endParaRPr lang="zh-CN" altLang="en-US" sz="320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2013</a:t>
            </a:r>
            <a:r>
              <a:rPr lang="zh-CN" altLang="en-US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</a:t>
            </a:r>
            <a:r>
              <a:rPr lang="zh-CN" altLang="en-US" sz="3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sz="320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目 录</a:t>
            </a:r>
            <a:endParaRPr lang="zh-CN" altLang="en-US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概述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动机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深度学习简介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深度学习的训练过程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深度学习的具体模型及方法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深度学习的性能比较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深度学习的应用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黑体" panose="02010609060101010101" pitchFamily="49" charset="-122"/>
                <a:ea typeface="楷体" panose="02010609060101010101" pitchFamily="49" charset="-122"/>
              </a:rPr>
              <a:t>展望</a:t>
            </a:r>
            <a:endParaRPr lang="zh-CN" altLang="en-US" sz="2800" smtClean="0">
              <a:latin typeface="黑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参考文献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r>
              <a:rPr lang="zh-CN" altLang="en-US" sz="2800" smtClean="0">
                <a:latin typeface="Adobe Caslon Pro"/>
                <a:ea typeface="楷体" panose="02010609060101010101" pitchFamily="49" charset="-122"/>
              </a:rPr>
              <a:t>相关程序软件及链接</a:t>
            </a:r>
            <a:endParaRPr lang="zh-CN" altLang="en-US" sz="2800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80000"/>
              </a:lnSpc>
            </a:pPr>
            <a:endParaRPr lang="zh-CN" altLang="en-US" sz="2800" smtClean="0">
              <a:latin typeface="Adobe Caslon Pro"/>
            </a:endParaRPr>
          </a:p>
          <a:p>
            <a:pPr>
              <a:lnSpc>
                <a:spcPct val="80000"/>
              </a:lnSpc>
            </a:pPr>
            <a:endParaRPr lang="zh-CN" altLang="en-US" sz="2800" smtClean="0">
              <a:latin typeface="Adobe Caslon Pro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04800" y="1143000"/>
            <a:ext cx="8621713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概 述</a:t>
            </a:r>
            <a:endParaRPr lang="zh-CN" altLang="en-US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05800" cy="4525963"/>
          </a:xfrm>
        </p:spPr>
        <p:txBody>
          <a:bodyPr/>
          <a:lstStyle/>
          <a:p>
            <a:r>
              <a:rPr lang="zh-CN" altLang="en-US" smtClean="0">
                <a:latin typeface="Adobe Caslon Pro"/>
                <a:ea typeface="楷体" panose="02010609060101010101" pitchFamily="49" charset="-122"/>
              </a:rPr>
              <a:t>深度学习：一种基于无监督特征学习和特征层次结构的学习方法</a:t>
            </a:r>
            <a:endParaRPr lang="zh-CN" altLang="en-US" smtClean="0">
              <a:latin typeface="Adobe Caslon Pro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latin typeface="Adobe Caslon Pro"/>
              <a:ea typeface="楷体" panose="02010609060101010101" pitchFamily="49" charset="-122"/>
            </a:endParaRPr>
          </a:p>
          <a:p>
            <a:r>
              <a:rPr lang="zh-CN" altLang="en-US" smtClean="0">
                <a:latin typeface="Adobe Caslon Pro"/>
                <a:ea typeface="楷体" panose="02010609060101010101" pitchFamily="49" charset="-122"/>
              </a:rPr>
              <a:t>可能的的名称：</a:t>
            </a:r>
            <a:endParaRPr lang="zh-CN" altLang="en-US" smtClean="0">
              <a:latin typeface="Adobe Caslon Pro"/>
              <a:ea typeface="楷体" panose="02010609060101010101" pitchFamily="49" charset="-122"/>
            </a:endParaRPr>
          </a:p>
          <a:p>
            <a:pPr lvl="1"/>
            <a:r>
              <a:rPr lang="zh-CN" altLang="en-US" smtClean="0">
                <a:latin typeface="Adobe Caslon Pro"/>
                <a:ea typeface="楷体" panose="02010609060101010101" pitchFamily="49" charset="-122"/>
              </a:rPr>
              <a:t>深度学习</a:t>
            </a:r>
            <a:endParaRPr lang="zh-CN" altLang="en-US" smtClean="0">
              <a:latin typeface="Adobe Caslon Pro"/>
              <a:ea typeface="楷体" panose="02010609060101010101" pitchFamily="49" charset="-122"/>
            </a:endParaRPr>
          </a:p>
          <a:p>
            <a:pPr lvl="1"/>
            <a:r>
              <a:rPr lang="zh-CN" altLang="en-US" smtClean="0">
                <a:latin typeface="Adobe Caslon Pro"/>
                <a:ea typeface="楷体" panose="02010609060101010101" pitchFamily="49" charset="-122"/>
              </a:rPr>
              <a:t>特征学习</a:t>
            </a:r>
            <a:endParaRPr lang="zh-CN" altLang="en-US" smtClean="0">
              <a:latin typeface="Adobe Caslon Pro"/>
              <a:ea typeface="楷体" panose="02010609060101010101" pitchFamily="49" charset="-122"/>
            </a:endParaRPr>
          </a:p>
          <a:p>
            <a:pPr lvl="1"/>
            <a:r>
              <a:rPr lang="zh-CN" altLang="en-US" smtClean="0">
                <a:latin typeface="Adobe Caslon Pro"/>
                <a:ea typeface="楷体" panose="02010609060101010101" pitchFamily="49" charset="-122"/>
              </a:rPr>
              <a:t>无监督特征学习</a:t>
            </a:r>
            <a:endParaRPr lang="zh-CN" altLang="en-US" smtClean="0">
              <a:latin typeface="Adobe Caslon Pro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latin typeface="Adobe Caslon Pro"/>
              <a:ea typeface="楷体" panose="02010609060101010101" pitchFamily="49" charset="-122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04800" y="1143000"/>
            <a:ext cx="8621713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Albertus Extra Bold"/>
                <a:ea typeface="黑体" panose="02010609060101010101" pitchFamily="49" charset="-122"/>
              </a:rPr>
              <a:t>动 机</a:t>
            </a:r>
            <a:endParaRPr lang="zh-CN" altLang="en-US" smtClean="0">
              <a:latin typeface="Albertus Extra Bold"/>
              <a:ea typeface="黑体" panose="02010609060101010101" pitchFamily="49" charset="-122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96863" y="1163638"/>
            <a:ext cx="8621712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1" name="Content Placeholder 2"/>
          <p:cNvSpPr txBox="1"/>
          <p:nvPr/>
        </p:nvSpPr>
        <p:spPr bwMode="auto">
          <a:xfrm>
            <a:off x="128588" y="4267200"/>
            <a:ext cx="9448800" cy="167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lvl="1" indent="-342900" font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  <a:ea typeface="华文楷体" panose="02010600040101010101" pitchFamily="2" charset="-122"/>
              </a:rPr>
              <a:t>良好的特征表达，对最终算法的准确性起了非常关键的作用；</a:t>
            </a:r>
            <a:endParaRPr lang="zh-CN" altLang="en-US" sz="2400" b="1">
              <a:solidFill>
                <a:schemeClr val="bg1"/>
              </a:solidFill>
              <a:ea typeface="华文楷体" panose="02010600040101010101" pitchFamily="2" charset="-122"/>
            </a:endParaRPr>
          </a:p>
          <a:p>
            <a:pPr marL="342900" lvl="1" indent="-342900" font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  <a:ea typeface="华文楷体" panose="02010600040101010101" pitchFamily="2" charset="-122"/>
              </a:rPr>
              <a:t>识别系统主要的计算和测试工作耗时主要集中在特征提取部分；</a:t>
            </a:r>
            <a:endParaRPr lang="zh-CN" altLang="en-US" sz="2400" b="1">
              <a:solidFill>
                <a:schemeClr val="bg1"/>
              </a:solidFill>
              <a:ea typeface="华文楷体" panose="02010600040101010101" pitchFamily="2" charset="-122"/>
            </a:endParaRPr>
          </a:p>
          <a:p>
            <a:pPr marL="342900" lvl="1" indent="-342900" fontAlgn="ctr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bg1"/>
                </a:solidFill>
                <a:ea typeface="华文楷体" panose="02010600040101010101" pitchFamily="2" charset="-122"/>
              </a:rPr>
              <a:t>特征的样式目前一般都是人工设计的，靠人工提取特征。</a:t>
            </a:r>
            <a:endParaRPr lang="en-US" altLang="zh-CN" sz="2400" b="1">
              <a:solidFill>
                <a:schemeClr val="bg1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17412" name="Group 1"/>
          <p:cNvGrpSpPr/>
          <p:nvPr/>
        </p:nvGrpSpPr>
        <p:grpSpPr bwMode="auto">
          <a:xfrm>
            <a:off x="457200" y="2133600"/>
            <a:ext cx="8229600" cy="1524000"/>
            <a:chOff x="1143000" y="1295400"/>
            <a:chExt cx="6858000" cy="841617"/>
          </a:xfrm>
        </p:grpSpPr>
        <p:sp>
          <p:nvSpPr>
            <p:cNvPr id="17414" name="Rectangle 13"/>
            <p:cNvSpPr>
              <a:spLocks noChangeArrowheads="1"/>
            </p:cNvSpPr>
            <p:nvPr/>
          </p:nvSpPr>
          <p:spPr bwMode="auto">
            <a:xfrm>
              <a:off x="1143000" y="1295400"/>
              <a:ext cx="1055077" cy="841617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algn="ctr" defTabSz="913130"/>
              <a:r>
                <a:rPr kumimoji="1" lang="en-US" altLang="zh-CN">
                  <a:solidFill>
                    <a:schemeClr val="bg1"/>
                  </a:solidFill>
                  <a:latin typeface="Arial Narrow" panose="020B0606020202030204" pitchFamily="34" charset="0"/>
                  <a:ea typeface="MS PGothic" panose="020B0600070205080204" pitchFamily="34" charset="-128"/>
                </a:rPr>
                <a:t>Low-level sensing</a:t>
              </a:r>
              <a:endParaRPr kumimoji="1" lang="en-US" altLang="zh-CN">
                <a:solidFill>
                  <a:schemeClr val="bg1"/>
                </a:solidFill>
                <a:latin typeface="Arial Narrow" panose="020B0606020202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415" name="Rectangle 14"/>
            <p:cNvSpPr>
              <a:spLocks noChangeArrowheads="1"/>
            </p:cNvSpPr>
            <p:nvPr/>
          </p:nvSpPr>
          <p:spPr bwMode="auto">
            <a:xfrm>
              <a:off x="2514600" y="1295400"/>
              <a:ext cx="1160585" cy="841617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algn="ctr" defTabSz="913130"/>
              <a:r>
                <a:rPr kumimoji="1" lang="en-US" altLang="zh-CN">
                  <a:solidFill>
                    <a:srgbClr val="FFFFFF"/>
                  </a:solidFill>
                  <a:latin typeface="Arial Narrow" panose="020B0606020202030204" pitchFamily="34" charset="0"/>
                  <a:ea typeface="MS PGothic" panose="020B0600070205080204" pitchFamily="34" charset="-128"/>
                </a:rPr>
                <a:t>Pre-processing</a:t>
              </a:r>
              <a:endParaRPr kumimoji="1" lang="en-US" altLang="zh-CN">
                <a:solidFill>
                  <a:srgbClr val="FFFFFF"/>
                </a:solidFill>
                <a:latin typeface="Arial Narrow" panose="020B0606020202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416" name="Rectangle 15"/>
            <p:cNvSpPr>
              <a:spLocks noChangeArrowheads="1"/>
            </p:cNvSpPr>
            <p:nvPr/>
          </p:nvSpPr>
          <p:spPr bwMode="auto">
            <a:xfrm>
              <a:off x="3991708" y="1295400"/>
              <a:ext cx="1055077" cy="841617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algn="ctr" defTabSz="913130"/>
              <a:r>
                <a:rPr kumimoji="1" lang="en-US" altLang="zh-CN">
                  <a:solidFill>
                    <a:srgbClr val="FFFFFF"/>
                  </a:solidFill>
                  <a:latin typeface="Arial Narrow" panose="020B0606020202030204" pitchFamily="34" charset="0"/>
                  <a:ea typeface="MS PGothic" panose="020B0600070205080204" pitchFamily="34" charset="-128"/>
                </a:rPr>
                <a:t>Feature extract.</a:t>
              </a:r>
              <a:endParaRPr kumimoji="1" lang="en-US" altLang="zh-CN">
                <a:solidFill>
                  <a:srgbClr val="FFFFFF"/>
                </a:solidFill>
                <a:latin typeface="Arial Narrow" panose="020B0606020202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417" name="Rectangle 18"/>
            <p:cNvSpPr>
              <a:spLocks noChangeArrowheads="1"/>
            </p:cNvSpPr>
            <p:nvPr/>
          </p:nvSpPr>
          <p:spPr bwMode="auto">
            <a:xfrm>
              <a:off x="5363308" y="1295400"/>
              <a:ext cx="1055077" cy="841617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algn="ctr" defTabSz="913130"/>
              <a:r>
                <a:rPr kumimoji="1" lang="en-US" altLang="zh-CN">
                  <a:solidFill>
                    <a:srgbClr val="FFFFFF"/>
                  </a:solidFill>
                  <a:latin typeface="Arial Narrow" panose="020B0606020202030204" pitchFamily="34" charset="0"/>
                  <a:ea typeface="MS PGothic" panose="020B0600070205080204" pitchFamily="34" charset="-128"/>
                </a:rPr>
                <a:t>Feature selection</a:t>
              </a:r>
              <a:endParaRPr kumimoji="1" lang="en-US" altLang="zh-CN">
                <a:solidFill>
                  <a:srgbClr val="FFFFFF"/>
                </a:solidFill>
                <a:latin typeface="Arial Narrow" panose="020B0606020202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418" name="Rectangle 19"/>
            <p:cNvSpPr>
              <a:spLocks noChangeArrowheads="1"/>
            </p:cNvSpPr>
            <p:nvPr/>
          </p:nvSpPr>
          <p:spPr bwMode="auto">
            <a:xfrm>
              <a:off x="6734908" y="1295400"/>
              <a:ext cx="1266092" cy="841617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</a:ln>
          </p:spPr>
          <p:txBody>
            <a:bodyPr anchor="ctr"/>
            <a:lstStyle/>
            <a:p>
              <a:pPr algn="ctr" defTabSz="913130"/>
              <a:r>
                <a:rPr kumimoji="1" lang="en-US" altLang="zh-CN">
                  <a:solidFill>
                    <a:srgbClr val="FFFFFF"/>
                  </a:solidFill>
                  <a:latin typeface="Arial Narrow" panose="020B0606020202030204" pitchFamily="34" charset="0"/>
                  <a:ea typeface="MS PGothic" panose="020B0600070205080204" pitchFamily="34" charset="-128"/>
                </a:rPr>
                <a:t>Inference: prediction, recognition</a:t>
              </a:r>
              <a:endParaRPr kumimoji="1" lang="en-US" altLang="zh-CN">
                <a:solidFill>
                  <a:srgbClr val="FFFFFF"/>
                </a:solidFill>
                <a:latin typeface="Arial Narrow" panose="020B060602020203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419" name="Right Arrow 20"/>
            <p:cNvSpPr>
              <a:spLocks noChangeArrowheads="1"/>
            </p:cNvSpPr>
            <p:nvPr/>
          </p:nvSpPr>
          <p:spPr bwMode="auto">
            <a:xfrm>
              <a:off x="2263619" y="1615562"/>
              <a:ext cx="211015" cy="24046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defTabSz="913130"/>
              <a:endParaRPr kumimoji="1" lang="zh-CN" altLang="zh-CN" sz="2400">
                <a:ea typeface="MS PGothic" panose="020B0600070205080204" pitchFamily="34" charset="-128"/>
              </a:endParaRPr>
            </a:p>
          </p:txBody>
        </p:sp>
        <p:sp>
          <p:nvSpPr>
            <p:cNvPr id="17420" name="Right Arrow 21"/>
            <p:cNvSpPr>
              <a:spLocks noChangeArrowheads="1"/>
            </p:cNvSpPr>
            <p:nvPr/>
          </p:nvSpPr>
          <p:spPr bwMode="auto">
            <a:xfrm>
              <a:off x="3750718" y="1621936"/>
              <a:ext cx="211015" cy="24046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defTabSz="913130"/>
              <a:endParaRPr kumimoji="1" lang="zh-CN" altLang="zh-CN" sz="2400">
                <a:ea typeface="MS PGothic" panose="020B0600070205080204" pitchFamily="34" charset="-128"/>
              </a:endParaRPr>
            </a:p>
          </p:txBody>
        </p:sp>
        <p:sp>
          <p:nvSpPr>
            <p:cNvPr id="17421" name="Right Arrow 22"/>
            <p:cNvSpPr>
              <a:spLocks noChangeArrowheads="1"/>
            </p:cNvSpPr>
            <p:nvPr/>
          </p:nvSpPr>
          <p:spPr bwMode="auto">
            <a:xfrm>
              <a:off x="5112327" y="1610551"/>
              <a:ext cx="211015" cy="24046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defTabSz="913130"/>
              <a:endParaRPr kumimoji="1" lang="zh-CN" altLang="zh-CN" sz="2400">
                <a:ea typeface="MS PGothic" panose="020B0600070205080204" pitchFamily="34" charset="-128"/>
              </a:endParaRPr>
            </a:p>
          </p:txBody>
        </p:sp>
        <p:sp>
          <p:nvSpPr>
            <p:cNvPr id="17422" name="Right Arrow 23"/>
            <p:cNvSpPr>
              <a:spLocks noChangeArrowheads="1"/>
            </p:cNvSpPr>
            <p:nvPr/>
          </p:nvSpPr>
          <p:spPr bwMode="auto">
            <a:xfrm>
              <a:off x="6483927" y="1621936"/>
              <a:ext cx="211015" cy="24046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 defTabSz="913130"/>
              <a:endParaRPr kumimoji="1" lang="zh-CN" altLang="zh-CN" sz="2400">
                <a:ea typeface="MS PGothic" panose="020B0600070205080204" pitchFamily="34" charset="-128"/>
              </a:endParaRPr>
            </a:p>
          </p:txBody>
        </p:sp>
      </p:grpSp>
      <p:sp>
        <p:nvSpPr>
          <p:cNvPr id="17413" name="Text Box 15"/>
          <p:cNvSpPr txBox="1">
            <a:spLocks noChangeArrowheads="1"/>
          </p:cNvSpPr>
          <p:nvPr/>
        </p:nvSpPr>
        <p:spPr bwMode="auto">
          <a:xfrm>
            <a:off x="381000" y="1371600"/>
            <a:ext cx="3429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bg1"/>
                </a:solidFill>
                <a:latin typeface="Adobe Caslon Pro"/>
                <a:ea typeface="楷体" panose="02010609060101010101" pitchFamily="49" charset="-122"/>
              </a:rPr>
              <a:t>传统的模式识别方法：</a:t>
            </a:r>
            <a:endParaRPr lang="zh-CN" altLang="en-US" sz="2400" b="1">
              <a:solidFill>
                <a:schemeClr val="bg1"/>
              </a:solidFill>
              <a:latin typeface="Adobe Caslon Pro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l"/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动 机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为什么要自动学习特征</a:t>
            </a:r>
            <a:endParaRPr lang="zh-CN" altLang="en-US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4" name="Content Placeholder 2"/>
          <p:cNvSpPr>
            <a:spLocks noGrp="1"/>
          </p:cNvSpPr>
          <p:nvPr>
            <p:ph idx="4294967295"/>
          </p:nvPr>
        </p:nvSpPr>
        <p:spPr>
          <a:xfrm>
            <a:off x="304800" y="1219200"/>
            <a:ext cx="8305800" cy="4525963"/>
          </a:xfrm>
        </p:spPr>
        <p:txBody>
          <a:bodyPr/>
          <a:lstStyle/>
          <a:p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实验：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LP-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  <a:cs typeface="Lucida Grande"/>
              </a:rPr>
              <a:t>β  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Multiple Kernel Learning</a:t>
            </a:r>
            <a:endParaRPr lang="en-US" altLang="zh-CN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Gehler and Nowozin, On Feature Combination for Multiclass Object Classification, ICCV’09</a:t>
            </a:r>
            <a:endParaRPr lang="en-US" altLang="zh-CN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39 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</a:rPr>
              <a:t>个不同的特征</a:t>
            </a:r>
            <a:endParaRPr lang="zh-CN" altLang="en-US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PHOG, SIFT, V1S+,</a:t>
            </a:r>
            <a:b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</a:rPr>
              <a:t>Region Cov.  Etc.  </a:t>
            </a:r>
            <a:endParaRPr lang="en-US" altLang="zh-CN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在普通特征上</a:t>
            </a:r>
            <a:r>
              <a:rPr lang="en-US" altLang="zh-CN" smtClean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MKL</a:t>
            </a: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表现</a:t>
            </a:r>
            <a:endParaRPr lang="zh-CN" altLang="en-US" smtClean="0"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mtClean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有限</a:t>
            </a:r>
            <a:endParaRPr lang="zh-CN" altLang="en-US" smtClean="0"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结论：特征更重要</a:t>
            </a:r>
            <a:endParaRPr lang="zh-CN" altLang="en-US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8435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75" y="3154363"/>
            <a:ext cx="4343400" cy="360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296863" y="1163638"/>
            <a:ext cx="8621712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动 机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为什么要自动学习特征</a:t>
            </a:r>
            <a:endParaRPr lang="zh-CN" altLang="en-US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9017000" cy="4525963"/>
          </a:xfrm>
        </p:spPr>
        <p:txBody>
          <a:bodyPr/>
          <a:lstStyle/>
          <a:p>
            <a:pPr eaLnBrk="1" hangingPunct="1"/>
            <a:r>
              <a:rPr lang="zh-CN" altLang="en-US" sz="2400" smtClean="0">
                <a:latin typeface="Adobe Caslon Pro"/>
                <a:ea typeface="楷体" panose="02010609060101010101" pitchFamily="49" charset="-122"/>
              </a:rPr>
              <a:t>机器学习中，获得好的特征是识别成功的关键</a:t>
            </a:r>
            <a:endParaRPr lang="zh-CN" altLang="en-US" sz="2400" smtClean="0">
              <a:latin typeface="Adobe Caslon Pro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2400" smtClean="0">
                <a:latin typeface="Adobe Caslon Pro"/>
                <a:ea typeface="楷体" panose="02010609060101010101" pitchFamily="49" charset="-122"/>
              </a:rPr>
              <a:t>目前存在大量人工设计的特征，不同研究对象特征不同，特征具有多样性，如：</a:t>
            </a:r>
            <a:r>
              <a:rPr lang="en-US" altLang="zh-CN" sz="2400" smtClean="0">
                <a:latin typeface="Adobe Caslon Pro"/>
                <a:ea typeface="楷体" panose="02010609060101010101" pitchFamily="49" charset="-122"/>
              </a:rPr>
              <a:t>SIFT, HOG, LBP</a:t>
            </a:r>
            <a:r>
              <a:rPr lang="zh-CN" altLang="en-US" sz="2400" smtClean="0">
                <a:latin typeface="Adobe Caslon Pro"/>
                <a:ea typeface="楷体" panose="02010609060101010101" pitchFamily="49" charset="-122"/>
              </a:rPr>
              <a:t>等</a:t>
            </a:r>
            <a:endParaRPr lang="en-US" altLang="zh-CN" sz="2400" smtClean="0">
              <a:latin typeface="Adobe Caslon Pro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2400" smtClean="0">
                <a:latin typeface="Adobe Caslon Pro"/>
                <a:ea typeface="楷体" panose="02010609060101010101" pitchFamily="49" charset="-122"/>
              </a:rPr>
              <a:t>手工选取特征费时费力，需要启发式专业知识，很大程度上靠经验和运气</a:t>
            </a:r>
            <a:endParaRPr lang="zh-CN" altLang="en-US" sz="2400" smtClean="0">
              <a:latin typeface="Adobe Caslon Pro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2400" smtClean="0">
                <a:latin typeface="Adobe Caslon Pro"/>
                <a:ea typeface="楷体" panose="02010609060101010101" pitchFamily="49" charset="-122"/>
              </a:rPr>
              <a:t>是否能自动地学习特征？</a:t>
            </a:r>
            <a:endParaRPr lang="en-US" altLang="zh-CN" sz="2400" smtClean="0">
              <a:latin typeface="Adobe Caslon Pro"/>
              <a:ea typeface="楷体" panose="02010609060101010101" pitchFamily="49" charset="-122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1143000"/>
            <a:ext cx="8621713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0" name="Picture 11"/>
          <p:cNvPicPr>
            <a:picLocks noChangeAspect="1" noChangeArrowheads="1"/>
          </p:cNvPicPr>
          <p:nvPr/>
        </p:nvPicPr>
        <p:blipFill>
          <a:blip r:embed="rId1"/>
          <a:srcRect l="27525" t="25000" r="19180" b="13542"/>
          <a:stretch>
            <a:fillRect/>
          </a:stretch>
        </p:blipFill>
        <p:spPr bwMode="auto">
          <a:xfrm>
            <a:off x="1295400" y="3733800"/>
            <a:ext cx="7010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ontent Placeholder 2"/>
          <p:cNvSpPr txBox="1"/>
          <p:nvPr/>
        </p:nvSpPr>
        <p:spPr bwMode="auto">
          <a:xfrm>
            <a:off x="241300" y="1019175"/>
            <a:ext cx="9017000" cy="5229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zh-CN" altLang="en-US" sz="2800">
                <a:solidFill>
                  <a:srgbClr val="FFFFFF"/>
                </a:solidFill>
                <a:latin typeface="Adobe Caslon Pro"/>
                <a:ea typeface="楷体" panose="02010609060101010101" pitchFamily="49" charset="-122"/>
              </a:rPr>
              <a:t>中层特征</a:t>
            </a:r>
            <a:endParaRPr lang="zh-CN" altLang="en-US" sz="2800">
              <a:solidFill>
                <a:srgbClr val="FFFFFF"/>
              </a:solidFill>
              <a:latin typeface="Adobe Caslon Pro"/>
              <a:ea typeface="楷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FFFFFF"/>
                </a:solidFill>
                <a:latin typeface="Adobe Caslon Pro"/>
                <a:ea typeface="楷体" panose="02010609060101010101" pitchFamily="49" charset="-122"/>
              </a:rPr>
              <a:t>中层信号：</a:t>
            </a:r>
            <a:endParaRPr lang="zh-CN" altLang="en-US" sz="2000">
              <a:solidFill>
                <a:srgbClr val="FFFFFF"/>
              </a:solidFill>
              <a:latin typeface="Adobe Caslon Pro"/>
              <a:ea typeface="楷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000">
              <a:solidFill>
                <a:srgbClr val="FFFFFF"/>
              </a:solidFill>
              <a:latin typeface="Adobe Caslon Pro"/>
              <a:ea typeface="楷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zh-CN" sz="28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742950" lvl="1" indent="-285750">
              <a:spcBef>
                <a:spcPct val="20000"/>
              </a:spcBef>
            </a:pPr>
            <a:endParaRPr lang="en-US" altLang="zh-CN" sz="24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  <a:p>
            <a:pPr marL="742950" lvl="1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endParaRPr lang="en-US" altLang="zh-CN" sz="24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</p:txBody>
      </p:sp>
      <p:sp>
        <p:nvSpPr>
          <p:cNvPr id="2150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动 机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为什么要自动学习特征</a:t>
            </a:r>
            <a:endParaRPr lang="en-US" altLang="zh-CN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04800" y="1042988"/>
            <a:ext cx="8621713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14763" y="3657600"/>
            <a:ext cx="441483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04800" y="3733800"/>
            <a:ext cx="344328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ja-JP" altLang="en-US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“</a:t>
            </a:r>
            <a:r>
              <a:rPr lang="en-US" altLang="ja-JP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Tokens</a:t>
            </a:r>
            <a:r>
              <a:rPr lang="ja-JP" altLang="en-US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”</a:t>
            </a:r>
            <a:r>
              <a:rPr lang="en-US" altLang="ja-JP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  from Vision by D.Marr:</a:t>
            </a:r>
            <a:endParaRPr lang="en-US" altLang="zh-CN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57250" y="2657475"/>
            <a:ext cx="561975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514475" y="2657475"/>
            <a:ext cx="561975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6200000" flipV="1">
            <a:off x="3252787" y="2443163"/>
            <a:ext cx="676275" cy="38100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6200000" flipV="1">
            <a:off x="3538537" y="2319338"/>
            <a:ext cx="676275" cy="38100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6200000" flipV="1">
            <a:off x="5667375" y="2657475"/>
            <a:ext cx="4191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0800000">
            <a:off x="5524500" y="2447925"/>
            <a:ext cx="695325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6200000" flipV="1">
            <a:off x="7510463" y="2633662"/>
            <a:ext cx="514350" cy="9525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7781925" y="2409825"/>
            <a:ext cx="381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8" name="Rectangle 24"/>
          <p:cNvSpPr>
            <a:spLocks noChangeArrowheads="1"/>
          </p:cNvSpPr>
          <p:nvPr/>
        </p:nvSpPr>
        <p:spPr bwMode="auto">
          <a:xfrm>
            <a:off x="1060450" y="2952750"/>
            <a:ext cx="6921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000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连续</a:t>
            </a:r>
            <a:endParaRPr lang="zh-CN" altLang="en-US" sz="20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</p:txBody>
      </p:sp>
      <p:sp>
        <p:nvSpPr>
          <p:cNvPr id="21519" name="Rectangle 25"/>
          <p:cNvSpPr>
            <a:spLocks noChangeArrowheads="1"/>
          </p:cNvSpPr>
          <p:nvPr/>
        </p:nvSpPr>
        <p:spPr bwMode="auto">
          <a:xfrm>
            <a:off x="3651250" y="2971800"/>
            <a:ext cx="6921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000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平行</a:t>
            </a:r>
            <a:endParaRPr lang="zh-CN" altLang="en-US" sz="20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</p:txBody>
      </p:sp>
      <p:sp>
        <p:nvSpPr>
          <p:cNvPr id="21520" name="Rectangle 26"/>
          <p:cNvSpPr>
            <a:spLocks noChangeArrowheads="1"/>
          </p:cNvSpPr>
          <p:nvPr/>
        </p:nvSpPr>
        <p:spPr bwMode="auto">
          <a:xfrm>
            <a:off x="5556250" y="2952750"/>
            <a:ext cx="6921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000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连接</a:t>
            </a:r>
            <a:endParaRPr lang="zh-CN" altLang="en-US" sz="20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</p:txBody>
      </p:sp>
      <p:sp>
        <p:nvSpPr>
          <p:cNvPr id="21521" name="Rectangle 27"/>
          <p:cNvSpPr>
            <a:spLocks noChangeArrowheads="1"/>
          </p:cNvSpPr>
          <p:nvPr/>
        </p:nvSpPr>
        <p:spPr bwMode="auto">
          <a:xfrm>
            <a:off x="7543800" y="2952750"/>
            <a:ext cx="6921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000">
                <a:solidFill>
                  <a:srgbClr val="FFFFFF"/>
                </a:solidFill>
                <a:latin typeface="Adobe Caslon Pro"/>
                <a:ea typeface="MS PGothic" panose="020B0600070205080204" pitchFamily="34" charset="-128"/>
              </a:rPr>
              <a:t>拐角</a:t>
            </a:r>
            <a:endParaRPr lang="zh-CN" altLang="en-US" sz="2000">
              <a:solidFill>
                <a:srgbClr val="FFFFFF"/>
              </a:solidFill>
              <a:latin typeface="Adobe Caslon Pro"/>
              <a:ea typeface="MS PGothic" panose="020B0600070205080204" pitchFamily="34" charset="-128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47675" y="2047875"/>
            <a:ext cx="2095500" cy="130492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800350" y="2047875"/>
            <a:ext cx="2009775" cy="130492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67300" y="2047875"/>
            <a:ext cx="1695450" cy="130492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91350" y="2047875"/>
            <a:ext cx="1905000" cy="1304925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34" name="Picture 10" descr="ermine"/>
          <p:cNvPicPr>
            <a:picLocks noChangeAspect="1" noChangeArrowheads="1"/>
          </p:cNvPicPr>
          <p:nvPr/>
        </p:nvPicPr>
        <p:blipFill>
          <a:blip r:embed="rId2"/>
          <a:srcRect l="59932" t="23151" r="31876" b="71706"/>
          <a:stretch>
            <a:fillRect/>
          </a:stretch>
        </p:blipFill>
        <p:spPr bwMode="auto">
          <a:xfrm>
            <a:off x="4589463" y="5070475"/>
            <a:ext cx="650875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11" descr="ermine"/>
          <p:cNvPicPr>
            <a:picLocks noChangeAspect="1" noChangeArrowheads="1"/>
          </p:cNvPicPr>
          <p:nvPr/>
        </p:nvPicPr>
        <p:blipFill>
          <a:blip r:embed="rId2"/>
          <a:srcRect l="50569" t="17148" r="37727" b="76851"/>
          <a:stretch>
            <a:fillRect/>
          </a:stretch>
        </p:blipFill>
        <p:spPr bwMode="auto">
          <a:xfrm>
            <a:off x="5992813" y="5026025"/>
            <a:ext cx="812800" cy="56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12" descr="bicycl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500" t="75458"/>
          <a:stretch>
            <a:fillRect/>
          </a:stretch>
        </p:blipFill>
        <p:spPr bwMode="auto">
          <a:xfrm>
            <a:off x="1636713" y="5270500"/>
            <a:ext cx="731837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" name="Picture 18" descr="violin"/>
          <p:cNvPicPr>
            <a:picLocks noChangeAspect="1" noChangeArrowheads="1"/>
          </p:cNvPicPr>
          <p:nvPr/>
        </p:nvPicPr>
        <p:blipFill>
          <a:blip r:embed="rId4"/>
          <a:srcRect t="26286" b="52684"/>
          <a:stretch>
            <a:fillRect/>
          </a:stretch>
        </p:blipFill>
        <p:spPr bwMode="auto">
          <a:xfrm>
            <a:off x="7210425" y="4933950"/>
            <a:ext cx="12573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" name="Picture 20" descr="violin"/>
          <p:cNvPicPr>
            <a:picLocks noChangeAspect="1" noChangeArrowheads="1"/>
          </p:cNvPicPr>
          <p:nvPr/>
        </p:nvPicPr>
        <p:blipFill>
          <a:blip r:embed="rId4"/>
          <a:srcRect t="76233"/>
          <a:stretch>
            <a:fillRect/>
          </a:stretch>
        </p:blipFill>
        <p:spPr bwMode="auto">
          <a:xfrm>
            <a:off x="2835275" y="5175250"/>
            <a:ext cx="10572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77813" y="4473575"/>
            <a:ext cx="1670050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zh-CN" altLang="en-US" sz="2000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物体部件</a:t>
            </a:r>
            <a:r>
              <a:rPr lang="en-US" altLang="zh-CN" sz="2000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en-US" altLang="zh-CN" sz="2000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911225" y="4419600"/>
            <a:ext cx="7323138" cy="0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914400" y="5791200"/>
            <a:ext cx="7323138" cy="0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228600" y="6096000"/>
            <a:ext cx="87058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FFFFFF"/>
                </a:solidFill>
                <a:latin typeface="Adobe Caslon Pro"/>
                <a:ea typeface="楷体" panose="02010609060101010101" pitchFamily="49" charset="-122"/>
              </a:rPr>
              <a:t>他们对于人工而言是十分困难的，那么如何学习呢？</a:t>
            </a:r>
            <a:endParaRPr lang="zh-CN" altLang="en-US" sz="2800">
              <a:solidFill>
                <a:srgbClr val="FFFFFF"/>
              </a:solidFill>
              <a:latin typeface="Adobe Caslon Pro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1" grpId="0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动 机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为什么要自动学习特征</a:t>
            </a:r>
            <a:endParaRPr lang="zh-CN" altLang="en-US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4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971675"/>
            <a:ext cx="82296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endParaRPr lang="zh-CN" altLang="en-US" sz="24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1" smtClean="0">
                <a:latin typeface="Adobe Caslon Pro"/>
                <a:ea typeface="楷体" panose="02010609060101010101" pitchFamily="49" charset="-122"/>
              </a:rPr>
              <a:t>一般而言，特征越多，给出信息就越多，识别准确性会得到提升；</a:t>
            </a:r>
            <a:endParaRPr lang="zh-CN" altLang="en-US" sz="20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000" b="1" smtClean="0">
                <a:latin typeface="Adobe Caslon Pro"/>
                <a:ea typeface="楷体" panose="02010609060101010101" pitchFamily="49" charset="-122"/>
              </a:rPr>
              <a:t>但特征多，计算复杂度增加，探索的空间大，可以用来训练的数据在每个特征上就会稀疏。</a:t>
            </a:r>
            <a:endParaRPr lang="zh-CN" altLang="en-US" sz="2000" b="1" smtClean="0">
              <a:latin typeface="Adobe Caslon Pro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b="1" smtClean="0">
                <a:solidFill>
                  <a:srgbClr val="FF0000"/>
                </a:solidFill>
                <a:latin typeface="Adobe Caslon Pro"/>
                <a:ea typeface="楷体" panose="02010609060101010101" pitchFamily="49" charset="-122"/>
              </a:rPr>
              <a:t>结论：不一定特征越多越好！需要有多少个特征，需要学习确定。</a:t>
            </a:r>
            <a:endParaRPr lang="zh-CN" altLang="en-US" sz="2400" b="1" smtClean="0">
              <a:solidFill>
                <a:srgbClr val="FF0000"/>
              </a:solidFill>
              <a:latin typeface="Adobe Caslon Pro"/>
              <a:ea typeface="楷体" panose="02010609060101010101" pitchFamily="49" charset="-122"/>
            </a:endParaRP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7763" y="1285875"/>
            <a:ext cx="6553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304800" y="1143000"/>
            <a:ext cx="8621713" cy="0"/>
          </a:xfrm>
          <a:prstGeom prst="line">
            <a:avLst/>
          </a:prstGeom>
          <a:ln w="50800" cap="rnd">
            <a:solidFill>
              <a:srgbClr val="EAB2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WPS 演示</Application>
  <PresentationFormat>On-screen Show (4:3)</PresentationFormat>
  <Paragraphs>108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宋体</vt:lpstr>
      <vt:lpstr>Wingdings</vt:lpstr>
      <vt:lpstr>Calibri</vt:lpstr>
      <vt:lpstr>MS PGothic</vt:lpstr>
      <vt:lpstr>Albertus Extra Bold</vt:lpstr>
      <vt:lpstr>Segoe Print</vt:lpstr>
      <vt:lpstr>Adobe Caslon Pro</vt:lpstr>
      <vt:lpstr>Albertus Extra Bold</vt:lpstr>
      <vt:lpstr>黑体</vt:lpstr>
      <vt:lpstr>楷体</vt:lpstr>
      <vt:lpstr>Adobe Caslon Pro</vt:lpstr>
      <vt:lpstr>华文楷体</vt:lpstr>
      <vt:lpstr>Arial Narrow</vt:lpstr>
      <vt:lpstr>Lucida Grande</vt:lpstr>
      <vt:lpstr>微软雅黑</vt:lpstr>
      <vt:lpstr>Arial Unicode MS</vt:lpstr>
      <vt:lpstr>KSOF1D8BC6A5</vt:lpstr>
      <vt:lpstr>2_Office Theme</vt:lpstr>
      <vt:lpstr>PowerPoint 演示文稿</vt:lpstr>
      <vt:lpstr>目 录</vt:lpstr>
      <vt:lpstr>概 述</vt:lpstr>
      <vt:lpstr>动 机</vt:lpstr>
      <vt:lpstr>动 机——为什么要自动学习特征</vt:lpstr>
      <vt:lpstr>动 机——为什么要自动学习特征</vt:lpstr>
      <vt:lpstr>动 机——为什么要自动学习特征</vt:lpstr>
      <vt:lpstr>动 机——为什么要自动学习特征</vt:lpstr>
    </vt:vector>
  </TitlesOfParts>
  <Company>NYU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 Fergus</dc:creator>
  <cp:lastModifiedBy>王林森</cp:lastModifiedBy>
  <cp:revision>346</cp:revision>
  <dcterms:created xsi:type="dcterms:W3CDTF">2011-08-18T19:05:00Z</dcterms:created>
  <dcterms:modified xsi:type="dcterms:W3CDTF">2026-06-08T05:56:30Z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BBA93D5B5B194B53A99CC5A3D1967B14_12</vt:lpwstr>
  </property>
  <property fmtid="{D5CDD505-2E9C-101B-9397-08002B2CF9AE}" pid="3" name="KSOProductBuildVer">
    <vt:lpwstr>2052-12.1.0.24655</vt:lpwstr>
  </property>
</Properties>
</file>